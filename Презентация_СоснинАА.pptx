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05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B4F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108960"/>
            <a:ext cx="3840480" cy="3840480"/>
          </a:xfrm>
          <a:prstGeom prst="ellipse">
            <a:avLst/>
          </a:prstGeom>
          <a:solidFill>
            <a:srgbClr val="2E86D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2E86DE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14300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2E86DE"/>
          </a:solidFill>
          <a:ln/>
          <a:effectLst>
            <a:outerShdw blurRad="114300" dist="38100" dir="8100000" algn="bl" rotWithShape="0">
              <a:srgbClr val="0A1F38">
                <a:alpha val="16000"/>
              </a:srgbClr>
            </a:outerShdw>
          </a:effectLst>
        </p:spPr>
      </p:sp>
      <p:pic>
        <p:nvPicPr>
          <p:cNvPr id="6" name="Image 0" descr="icons2/c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399032"/>
            <a:ext cx="722376" cy="7223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 рынка недвижимости Москвы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41248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5BA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автоэнкодера к кластерам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68680" y="5074920"/>
            <a:ext cx="45720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5257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Соснин Артём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3 курса · РТУ МИРЭА ·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Актуальность и цель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864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00200"/>
            <a:ext cx="82296" cy="461772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240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Рынок недвижимости — сложная многомерная система.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33832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методы — ручная сегментация по цене, району и метражу — </a:t>
            </a: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учитывают скрытые взаимосвязи</a:t>
            </a:r>
            <a:r>
              <a:rPr lang="en-US" sz="15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между признаками квартир.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55080" y="1600200"/>
            <a:ext cx="5257800" cy="4617720"/>
          </a:xfrm>
          <a:prstGeom prst="rect">
            <a:avLst/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55080" y="1600200"/>
            <a:ext cx="82296" cy="4617720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13" name="Image 1" descr="icons2/targe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8745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75120" y="2834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Разработка модели на основе автоэнкодера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675120" y="3794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данных о квартирах и кластеризация для: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812280" y="4343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выделения естественных сегментов рынка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обнаружения аномальных объектов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Данные и предобработка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029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7" name="Image 1" descr="icons2/databas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830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801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ДАННЫХ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772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</a:t>
            </a:r>
            <a:r>
              <a:rPr lang="en-US" sz="15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«Prices of Moscow apartments»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2834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7 000</a:t>
            </a: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объектов недвижимости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72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77240" y="44805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Числовые: </a:t>
            </a:r>
            <a:r>
              <a:rPr lang="en-US" sz="13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цена, площадь, комнаты, этаж, год постройки, этажность, время до метро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7724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Категориальные: </a:t>
            </a:r>
            <a:r>
              <a:rPr lang="en-US" sz="13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округ, тип жилья (новостройка / вторичка), признак апартаментов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9436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ПРЕДОБРАБОТКА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0" y="2011680"/>
            <a:ext cx="5669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217627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8" name="Text 14"/>
          <p:cNvSpPr/>
          <p:nvPr/>
        </p:nvSpPr>
        <p:spPr>
          <a:xfrm>
            <a:off x="612648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766560" y="20116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дубликатов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943600" y="2926080"/>
            <a:ext cx="5669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309067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22" name="Text 18"/>
          <p:cNvSpPr/>
          <p:nvPr/>
        </p:nvSpPr>
        <p:spPr>
          <a:xfrm>
            <a:off x="612648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766560" y="29260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Заполнение пропусков медианой и модой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5943600" y="3840480"/>
            <a:ext cx="5669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400507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26" name="Text 22"/>
          <p:cNvSpPr/>
          <p:nvPr/>
        </p:nvSpPr>
        <p:spPr>
          <a:xfrm>
            <a:off x="612648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766560" y="38404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One-hot-кодирование категорий</a:t>
            </a:r>
            <a:endParaRPr lang="en-US" sz="1450" dirty="0"/>
          </a:p>
        </p:txBody>
      </p:sp>
      <p:sp>
        <p:nvSpPr>
          <p:cNvPr id="28" name="Shape 24"/>
          <p:cNvSpPr/>
          <p:nvPr/>
        </p:nvSpPr>
        <p:spPr>
          <a:xfrm>
            <a:off x="5943600" y="4754880"/>
            <a:ext cx="5669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26480" y="491947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0" name="Text 26"/>
          <p:cNvSpPr/>
          <p:nvPr/>
        </p:nvSpPr>
        <p:spPr>
          <a:xfrm>
            <a:off x="61264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766560" y="47548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Стандартизация числовых признаков</a:t>
            </a:r>
            <a:endParaRPr lang="en-US" sz="1450" dirty="0"/>
          </a:p>
        </p:txBody>
      </p:sp>
      <p:sp>
        <p:nvSpPr>
          <p:cNvPr id="32" name="Text 28"/>
          <p:cNvSpPr/>
          <p:nvPr/>
        </p:nvSpPr>
        <p:spPr>
          <a:xfrm>
            <a:off x="5943600" y="5806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строки исходного датасета представлены в приложении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Модель: автоэнкодер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554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Автоэнкодер — </a:t>
            </a:r>
            <a:r>
              <a:rPr lang="en-US" sz="15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сеть, которая сжимает входные данные до низкоразмерного представления (bottleneck), а затем восстанавливает их.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6400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9" name="Image 1" descr="pres_img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27" y="2926080"/>
            <a:ext cx="5502826" cy="3063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Архитектура: вход → 8 → 4 (bottleneck) → 8 → выход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178040" y="2697480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60920" y="2871216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3" name="Image 2" descr="icons2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298094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28163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слои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01000" y="31181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слоя по 8 нейронов, ReLU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178040" y="3602736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60920" y="3776472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8" name="Image 3" descr="icons2/compres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388620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01000" y="37216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Бутылочное горлышко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001000" y="4023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нейрона — сжатое представление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178040" y="450799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60920" y="4681728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3" name="Image 4" descr="icons2/co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0648" y="479145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01000" y="46268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потерь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001000" y="492861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симметричное расширение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178040" y="5413248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360920" y="5586984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8" name="Image 5" descr="icons2/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648" y="5696712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001000" y="5532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8001000" y="58338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данных, 50 эпох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compre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Латентное пространство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1732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 векторов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21488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каждой квартиры получены 4-мерные векторы из bottleneck автоэнкодера.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417320" y="3246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размерности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3657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Применён нелинейный метод UMAP — он сохраняет структуру данных лучше, чем PCA.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640080" cy="6400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417320" y="4754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17320" y="51663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2D-проекция выявила наличие нескольких визуально различимых кластеров.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0" y="1691640"/>
            <a:ext cx="57607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19" name="Image 1" descr="pres_img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156460"/>
            <a:ext cx="5394960" cy="3596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52160" y="6263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UMAP-проекция латентного пространства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clus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Кластеризация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1945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</a:t>
            </a:r>
            <a:r>
              <a:rPr lang="en-US" sz="15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UMAP-проекции. Параметры подобраны через </a:t>
            </a: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r>
              <a:rPr lang="en-US" sz="15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максимизацией </a:t>
            </a:r>
            <a:r>
              <a:rPr lang="en-US" sz="15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r>
              <a:rPr lang="en-US" sz="15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4114800"/>
            <a:ext cx="1737360" cy="2103120"/>
          </a:xfrm>
          <a:prstGeom prst="rect">
            <a:avLst/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4114800"/>
            <a:ext cx="1737360" cy="914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434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658368" y="52578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кластера выделено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423160" y="4114800"/>
            <a:ext cx="1737360" cy="2103120"/>
          </a:xfrm>
          <a:prstGeom prst="rect">
            <a:avLst/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23160" y="4114800"/>
            <a:ext cx="1737360" cy="9144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5" name="Text 12"/>
          <p:cNvSpPr/>
          <p:nvPr/>
        </p:nvSpPr>
        <p:spPr>
          <a:xfrm>
            <a:off x="2423160" y="4434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2532888" y="52578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крупнейшем кластере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97680" y="4114800"/>
            <a:ext cx="1737360" cy="2103120"/>
          </a:xfrm>
          <a:prstGeom prst="rect">
            <a:avLst/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4114800"/>
            <a:ext cx="173736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6"/>
          <p:cNvSpPr/>
          <p:nvPr/>
        </p:nvSpPr>
        <p:spPr>
          <a:xfrm>
            <a:off x="4297680" y="4434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3.4%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4407408" y="52578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/ выбросы (-1)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600200"/>
            <a:ext cx="53492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22" name="Image 1" descr="pres_img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028" y="1828800"/>
            <a:ext cx="4688465" cy="41605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Распределение по кластерам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7315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109728" cy="1078992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1956816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00200" y="169164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Массовый рынок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12080" y="1691640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5 186  </a:t>
            </a: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766560" y="1691640"/>
            <a:ext cx="1005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74.3%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2880360"/>
            <a:ext cx="7315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880360"/>
            <a:ext cx="109728" cy="10789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3145536"/>
            <a:ext cx="548640" cy="548640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145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600200" y="288036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Малогабаритная вторичка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5212080" y="2880360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1 094  </a:t>
            </a: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66560" y="2880360"/>
            <a:ext cx="1005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B4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15.7%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8640" y="4069080"/>
            <a:ext cx="7315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4069080"/>
            <a:ext cx="109728" cy="1078992"/>
          </a:xfrm>
          <a:prstGeom prst="rect">
            <a:avLst/>
          </a:prstGeom>
          <a:solidFill>
            <a:srgbClr val="6FA8DC"/>
          </a:solidFill>
          <a:ln/>
        </p:spPr>
      </p:sp>
      <p:sp>
        <p:nvSpPr>
          <p:cNvPr id="22" name="Shape 19"/>
          <p:cNvSpPr/>
          <p:nvPr/>
        </p:nvSpPr>
        <p:spPr>
          <a:xfrm>
            <a:off x="868680" y="4334256"/>
            <a:ext cx="548640" cy="548640"/>
          </a:xfrm>
          <a:prstGeom prst="ellipse">
            <a:avLst/>
          </a:prstGeom>
          <a:solidFill>
            <a:srgbClr val="6FA8D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334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600200" y="406908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Элитные высотки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212080" y="4069080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  </a:t>
            </a: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766560" y="4069080"/>
            <a:ext cx="1005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6FA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6.6%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548640" y="5257800"/>
            <a:ext cx="7315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" y="5257800"/>
            <a:ext cx="109728" cy="10789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Shape 26"/>
          <p:cNvSpPr/>
          <p:nvPr/>
        </p:nvSpPr>
        <p:spPr>
          <a:xfrm>
            <a:off x="868680" y="5522976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7"/>
          <p:cNvSpPr/>
          <p:nvPr/>
        </p:nvSpPr>
        <p:spPr>
          <a:xfrm>
            <a:off x="868680" y="5522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600200" y="525780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Аномальные объекты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5212080" y="5257800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 </a:t>
            </a: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766560" y="5257800"/>
            <a:ext cx="1005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3.4%</a:t>
            </a:r>
            <a:endParaRPr lang="en-US" sz="1900" dirty="0"/>
          </a:p>
        </p:txBody>
      </p:sp>
      <p:sp>
        <p:nvSpPr>
          <p:cNvPr id="34" name="Shape 31"/>
          <p:cNvSpPr/>
          <p:nvPr/>
        </p:nvSpPr>
        <p:spPr>
          <a:xfrm>
            <a:off x="8183880" y="1691640"/>
            <a:ext cx="3429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5" name="Image 1" descr="pres_img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618488"/>
            <a:ext cx="3063240" cy="271830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Числовые характеристики кластеров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Признак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FE0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Аномалии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FE0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Массовый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FE0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Элитные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FE0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Вторичка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 площадь, м²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Жилая площадь, м²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Число комнат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постройки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Этажность дома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Этаж квартиры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EEF4FB"/>
          </a:solidFill>
          <a:ln w="12700">
            <a:solidFill>
              <a:srgbClr val="E1E9F2"/>
            </a:solidFill>
            <a:prstDash val="solid"/>
          </a:ln>
        </p:spPr>
      </p:sp>
      <p:pic>
        <p:nvPicPr>
          <p:cNvPr id="8" name="Image 1" descr="icons2/searchloc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1280160" y="5806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отличие: </a:t>
            </a: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элитные высотки (кластер 1) выделяются этажностью 54 и расположением на 39-м этаже — против 9–18 этажей в других сегментах.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Распределение признаков по кластерам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7" name="Image 1" descr="pres_img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43808"/>
            <a:ext cx="10607040" cy="3519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Диаграммы размаха (boxplot) показывают разброс ключевых числовых признаков внутри каждого кластера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Географическое распределение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7863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7" name="Image 1" descr="pres_img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68368"/>
            <a:ext cx="7406640" cy="40185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41080" y="1691640"/>
            <a:ext cx="2971800" cy="4572000"/>
          </a:xfrm>
          <a:prstGeom prst="rect">
            <a:avLst/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9" name="Image 2" descr="icons2/map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96596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1540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показывает карта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8915400" y="32918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Тепловая карта отражает концентрацию кластеров по округам Москвы.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Насыщенный цвет — выше доля объектов кластера в округе.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Аномалии по кластерам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7" name="Image 1" descr="pres_img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250" y="1920240"/>
            <a:ext cx="10375020" cy="365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и сравнение аномальных объектов, выявленных по ошибке реконструкции автоэнкодера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Тип жилья по кластерам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7863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7" name="Image 1" descr="pres_img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389" y="1920240"/>
            <a:ext cx="6898341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41080" y="1691640"/>
            <a:ext cx="2971800" cy="4572000"/>
          </a:xfrm>
          <a:prstGeom prst="rect">
            <a:avLst/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9" name="Image 2" descr="icons2/home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96596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1540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Соотношение типов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8915400" y="32918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новостроек и вторичного жилья внутри каждого кластера.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по типу жилья помогает интерпретировать смысл каждого сегмента.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Обзор приложения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86400" cy="4572000"/>
          </a:xfrm>
          <a:prstGeom prst="rect">
            <a:avLst/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7" name="Image 1" descr="icons2/desktop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0116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Десктопный инструмент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68680" y="3429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Определяет тип недвижимости на основе реальных данных московского рынка.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5840" y="45262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параметров квартиры через форму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кластера по обученной модели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объекта на аномальность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5257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12" name="Image 2" descr="pres_img/image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999" y="1965960"/>
            <a:ext cx="4141962" cy="4023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5080" y="62636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для заполнения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F2A4A"/>
          </a:solidFill>
          <a:ln/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3" name="Image 0" descr="icons2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309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Демонстрация работы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40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45920"/>
            <a:ext cx="5440680" cy="4572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459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0 · Массовый рынок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194560"/>
            <a:ext cx="522122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10" name="Image 1" descr="pres_img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72737"/>
            <a:ext cx="5074920" cy="117983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72200" y="1645920"/>
            <a:ext cx="5440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172200" y="1645920"/>
            <a:ext cx="5440680" cy="457200"/>
          </a:xfrm>
          <a:prstGeom prst="rect">
            <a:avLst/>
          </a:prstGeom>
          <a:solidFill>
            <a:srgbClr val="6FA8DC"/>
          </a:solidFill>
          <a:ln/>
        </p:spPr>
      </p:sp>
      <p:sp>
        <p:nvSpPr>
          <p:cNvPr id="13" name="Text 9"/>
          <p:cNvSpPr/>
          <p:nvPr/>
        </p:nvSpPr>
        <p:spPr>
          <a:xfrm>
            <a:off x="6355080" y="16459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1 · Элитные высотки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81928" y="2194560"/>
            <a:ext cx="522122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15" name="Image 2" descr="pres_img/imag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363869"/>
            <a:ext cx="5074920" cy="119757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041648"/>
            <a:ext cx="5440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48640" y="4041648"/>
            <a:ext cx="5440680" cy="45720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8" name="Text 13"/>
          <p:cNvSpPr/>
          <p:nvPr/>
        </p:nvSpPr>
        <p:spPr>
          <a:xfrm>
            <a:off x="731520" y="404164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2 · Малогабаритная вторичка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58368" y="4590288"/>
            <a:ext cx="522122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20" name="Image 3" descr="pres_img/image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740385"/>
            <a:ext cx="5074920" cy="1235997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172200" y="4041648"/>
            <a:ext cx="5440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172200" y="4041648"/>
            <a:ext cx="544068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17"/>
          <p:cNvSpPr/>
          <p:nvPr/>
        </p:nvSpPr>
        <p:spPr>
          <a:xfrm>
            <a:off x="6355080" y="404164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−1 · Аномальный объект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281928" y="4590288"/>
            <a:ext cx="522122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  <a:effectLst>
            <a:outerShdw blurRad="88900" dist="25400" dir="8100000" algn="bl" rotWithShape="0">
              <a:srgbClr val="1A2433">
                <a:alpha val="10000"/>
              </a:srgbClr>
            </a:outerShdw>
          </a:effectLst>
        </p:spPr>
      </p:sp>
      <p:pic>
        <p:nvPicPr>
          <p:cNvPr id="25" name="Image 4" descr="pres_img/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739990"/>
            <a:ext cx="5074920" cy="12367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120640" cy="5120640"/>
          </a:xfrm>
          <a:prstGeom prst="ellipse">
            <a:avLst/>
          </a:prstGeom>
          <a:solidFill>
            <a:srgbClr val="1B4F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023360"/>
            <a:ext cx="3657600" cy="3657600"/>
          </a:xfrm>
          <a:prstGeom prst="ellipse">
            <a:avLst/>
          </a:prstGeom>
          <a:solidFill>
            <a:srgbClr val="2E86DE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РАБОТЫ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640080" cy="6400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6" name="Image 0" descr="icons2/compre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5270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3533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Автоэнкодер сжал данные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17190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признак → 4-мерное латентное представление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0" name="Image 1" descr="icons2/clus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4414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2677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Выделено 4 сегмента рынка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45920" y="26334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массового жилья до элитных высоток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4" name="Image 2" descr="icons2/warn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35584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1821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Обнаружены аномалии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45920" y="35478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нетипичных объектов по ошибке реконструкции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8" name="Image 3" descr="icons2/deskto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427024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0965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Создано приложение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645920" y="44622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кластера квартиры в реальном времени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7680960" y="27432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</a:t>
            </a:r>
            <a:endParaRPr lang="en-US" sz="3000" dirty="0"/>
          </a:p>
        </p:txBody>
      </p:sp>
      <p:sp>
        <p:nvSpPr>
          <p:cNvPr id="22" name="Shape 16"/>
          <p:cNvSpPr/>
          <p:nvPr/>
        </p:nvSpPr>
        <p:spPr>
          <a:xfrm>
            <a:off x="10881360" y="4069080"/>
            <a:ext cx="9144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17"/>
          <p:cNvSpPr/>
          <p:nvPr/>
        </p:nvSpPr>
        <p:spPr>
          <a:xfrm>
            <a:off x="676656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2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Соснин Артём · РТУ МИРЭА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Широкоэкранный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рынка недвижимости Москвы</dc:title>
  <dc:subject>PptxGenJS Presentation</dc:subject>
  <dc:creator>Соснин Артём</dc:creator>
  <cp:lastModifiedBy>Артём Соснин</cp:lastModifiedBy>
  <cp:revision>1</cp:revision>
  <dcterms:created xsi:type="dcterms:W3CDTF">2026-05-23T16:37:13Z</dcterms:created>
  <dcterms:modified xsi:type="dcterms:W3CDTF">2026-05-23T18:06:29Z</dcterms:modified>
</cp:coreProperties>
</file>