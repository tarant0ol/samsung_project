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9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62" r:id="rId2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158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93" autoAdjust="0"/>
    <p:restoredTop sz="94682"/>
  </p:normalViewPr>
  <p:slideViewPr>
    <p:cSldViewPr snapToGrid="0">
      <p:cViewPr varScale="1">
        <p:scale>
          <a:sx n="106" d="100"/>
          <a:sy n="106" d="100"/>
        </p:scale>
        <p:origin x="15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4C6D59-3ED6-49C4-85CA-14809899FB0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C3093-8D01-4BA2-B787-6C0FD15EC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62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7C3093-8D01-4BA2-B787-6C0FD15ECFEB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2142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95398"/>
            <a:ext cx="7772400" cy="1948001"/>
          </a:xfrm>
        </p:spPr>
        <p:txBody>
          <a:bodyPr anchor="b"/>
          <a:lstStyle>
            <a:lvl1pPr algn="ctr">
              <a:defRPr sz="5400" baseline="0"/>
            </a:lvl1pPr>
          </a:lstStyle>
          <a:p>
            <a:r>
              <a:rPr lang="ru-RU" dirty="0"/>
              <a:t>Название проекта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511876"/>
            <a:ext cx="6858000" cy="745923"/>
          </a:xfrm>
        </p:spPr>
        <p:txBody>
          <a:bodyPr/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ФИО, группа студента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fld id="{8246673C-AA34-4E89-A0A3-185AA0D8F499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6986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58342"/>
                </a:solidFill>
              </a:defRPr>
            </a:lvl1pPr>
          </a:lstStyle>
          <a:p>
            <a:fld id="{E677CD79-0B2B-45CB-ADDB-3901C959E46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D907DCE-1F3A-41AC-A259-BCFC2AEDC0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8"/>
          <a:stretch/>
        </p:blipFill>
        <p:spPr>
          <a:xfrm>
            <a:off x="4103929" y="748429"/>
            <a:ext cx="4022241" cy="128098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31" y="382446"/>
            <a:ext cx="2705137" cy="215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567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50"/>
            </a:lvl1pPr>
          </a:lstStyle>
          <a:p>
            <a:fld id="{14DF9C37-521D-4E81-85CF-A8745AC26C08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50"/>
            </a:lvl1pPr>
          </a:lstStyle>
          <a:p>
            <a:endParaRPr lang="ru-RU"/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5959929" cy="73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6986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58342"/>
                </a:solidFill>
              </a:defRPr>
            </a:lvl1pPr>
          </a:lstStyle>
          <a:p>
            <a:fld id="{E677CD79-0B2B-45CB-ADDB-3901C959E46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13" y="137933"/>
            <a:ext cx="1212887" cy="96424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D95C808-64A4-48AC-8627-2D8F96013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8" r="55550"/>
          <a:stretch/>
        </p:blipFill>
        <p:spPr>
          <a:xfrm>
            <a:off x="6736644" y="204863"/>
            <a:ext cx="1215370" cy="87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011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24419"/>
            <a:ext cx="3886200" cy="489539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32583"/>
            <a:ext cx="3886200" cy="4895396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0CCB1-5CD2-492F-A8BB-1783CF8A7B2A}" type="datetime1">
              <a:rPr lang="ru-RU" smtClean="0"/>
              <a:t>01.06.2026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06986" y="6356351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58342"/>
                </a:solidFill>
              </a:defRPr>
            </a:lvl1pPr>
          </a:lstStyle>
          <a:p>
            <a:fld id="{E677CD79-0B2B-45CB-ADDB-3901C959E46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28650" y="365126"/>
            <a:ext cx="5959929" cy="73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aseline="0"/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1" name="Рисунок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13" y="137933"/>
            <a:ext cx="1212887" cy="964245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BD95C808-64A4-48AC-8627-2D8F96013C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8" r="55550"/>
          <a:stretch/>
        </p:blipFill>
        <p:spPr>
          <a:xfrm>
            <a:off x="6736644" y="204863"/>
            <a:ext cx="1215370" cy="87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333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5755525" cy="737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32807"/>
            <a:ext cx="7886700" cy="48092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BD34221-C612-41BC-BF3F-860AC16F564D}" type="datetime1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ru-R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6986" y="6356351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800">
                <a:solidFill>
                  <a:srgbClr val="15834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677CD79-0B2B-45CB-ADDB-3901C959E4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199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771917"/>
            <a:ext cx="7772400" cy="1948001"/>
          </a:xfrm>
        </p:spPr>
        <p:txBody>
          <a:bodyPr>
            <a:normAutofit fontScale="90000"/>
          </a:bodyPr>
          <a:lstStyle/>
          <a:p>
            <a:r>
              <a:rPr lang="ru" dirty="0">
                <a:ea typeface="Didact Gothic"/>
                <a:sym typeface="Didact Gothic"/>
              </a:rPr>
              <a:t>Анализ рынка недвижимости Москвы: от автоэнкодера к кластерам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4963699"/>
            <a:ext cx="6858000" cy="1297252"/>
          </a:xfrm>
        </p:spPr>
        <p:txBody>
          <a:bodyPr>
            <a:normAutofit/>
          </a:bodyPr>
          <a:lstStyle/>
          <a:p>
            <a:r>
              <a:rPr lang="ru-RU" dirty="0"/>
              <a:t>Студент: Соснин А. А.</a:t>
            </a:r>
          </a:p>
          <a:p>
            <a:r>
              <a:rPr lang="ru-RU" dirty="0"/>
              <a:t>Руководитель: Макаров М. А.</a:t>
            </a:r>
          </a:p>
        </p:txBody>
      </p:sp>
    </p:spTree>
    <p:extLst>
      <p:ext uri="{BB962C8B-B14F-4D97-AF65-F5344CB8AC3E}">
        <p14:creationId xmlns:p14="http://schemas.microsoft.com/office/powerpoint/2010/main" val="2547918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628650" y="1602889"/>
            <a:ext cx="7854447" cy="475346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2400" b="1" dirty="0"/>
              <a:t>Цель: </a:t>
            </a:r>
            <a:r>
              <a:rPr lang="ru-RU" sz="2400" dirty="0"/>
              <a:t>Разработать и обучить нейросетевую модель на основе автоэнкодера для сжатия данных о квартирах Москвы, кластеризации объектов с выделением естественных сегментов рынка, выявления аномалий, а также создать десктопное приложение для классификации новых квартир по характеристикам.</a:t>
            </a:r>
          </a:p>
          <a:p>
            <a:pPr marL="0" indent="0">
              <a:buNone/>
            </a:pPr>
            <a:r>
              <a:rPr lang="ru-RU" sz="2400" b="1" dirty="0"/>
              <a:t>Задачи:</a:t>
            </a:r>
            <a:r>
              <a:rPr lang="ru-RU" dirty="0"/>
              <a:t> </a:t>
            </a:r>
          </a:p>
          <a:p>
            <a:r>
              <a:rPr lang="ru-RU" dirty="0"/>
              <a:t>Проанализировать и </a:t>
            </a:r>
            <a:r>
              <a:rPr lang="ru-RU" dirty="0" err="1"/>
              <a:t>предобработать</a:t>
            </a:r>
            <a:r>
              <a:rPr lang="ru-RU" dirty="0"/>
              <a:t> датасет квартир Москвы (≈7000 записей).</a:t>
            </a:r>
          </a:p>
          <a:p>
            <a:r>
              <a:rPr lang="ru-RU" dirty="0"/>
              <a:t>Спроектировать и обучить автоэнкодер для сжатия данных до 4-мерного латентного пространства.</a:t>
            </a:r>
          </a:p>
          <a:p>
            <a:r>
              <a:rPr lang="ru-RU" dirty="0"/>
              <a:t>Визуализировать латентное пространство с помощью UMAP и выделить кластеры методом DBSCAN.</a:t>
            </a:r>
          </a:p>
          <a:p>
            <a:r>
              <a:rPr lang="ru-RU" dirty="0"/>
              <a:t>Интерпретировать полученные кластеры, проанализировать их числовые и категориальные характеристики, а также распределение аномалий.</a:t>
            </a:r>
          </a:p>
          <a:p>
            <a:r>
              <a:rPr lang="ru-RU" dirty="0"/>
              <a:t>Реализовать десктопное приложение с графическим интерфейсом, позволяющее пользователю вводить характеристики квартиры и получать информацию о её кластере и статусе аномальности.</a:t>
            </a:r>
          </a:p>
          <a:p>
            <a:pPr marL="0" indent="0">
              <a:buNone/>
            </a:pPr>
            <a:endParaRPr lang="ru-RU" sz="2400" b="1" dirty="0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проекта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576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628649" y="1194973"/>
            <a:ext cx="7886700" cy="4653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Рынок недвижимости Москвы характеризуется высокой сложностью, многомерностью и скрытыми взаимосвязями между характеристиками объектов. Традиционные методы анализа (ручная сегментация по цене, району, площади) не позволяют выявить естественные кластеры и аномалии, такие как недооценённые или уникальные предложения. Применение нейросетевых методов, в частности автоэнкодеров, даёт возможность автоматически сжимать данные, находить скрытые закономерности и создавать инструменты для поддержки принятия решений при покупке или продаже жилья.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 проекта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Объект 8">
            <a:extLst>
              <a:ext uri="{FF2B5EF4-FFF2-40B4-BE49-F238E27FC236}">
                <a16:creationId xmlns:a16="http://schemas.microsoft.com/office/drawing/2014/main" id="{A53CBF6B-D39D-FA04-AB92-420AB214EE6C}"/>
              </a:ext>
            </a:extLst>
          </p:cNvPr>
          <p:cNvSpPr txBox="1">
            <a:spLocks/>
          </p:cNvSpPr>
          <p:nvPr/>
        </p:nvSpPr>
        <p:spPr>
          <a:xfrm>
            <a:off x="628649" y="4360328"/>
            <a:ext cx="7886700" cy="2132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045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6D812C96-3162-7AA2-5363-DFAD36E28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7886700" cy="2569648"/>
          </a:xfrm>
        </p:spPr>
        <p:txBody>
          <a:bodyPr/>
          <a:lstStyle/>
          <a:p>
            <a:r>
              <a:rPr lang="ru-RU" dirty="0"/>
              <a:t>Источником данных является датасет с </a:t>
            </a:r>
            <a:r>
              <a:rPr lang="ru-RU" dirty="0" err="1"/>
              <a:t>Kaggle</a:t>
            </a:r>
            <a:r>
              <a:rPr lang="ru-RU" dirty="0"/>
              <a:t> «</a:t>
            </a:r>
            <a:r>
              <a:rPr lang="ru-RU" dirty="0" err="1"/>
              <a:t>prices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Moscow </a:t>
            </a:r>
            <a:r>
              <a:rPr lang="ru-RU" dirty="0" err="1"/>
              <a:t>apartments</a:t>
            </a:r>
            <a:r>
              <a:rPr lang="ru-RU" dirty="0"/>
              <a:t>» (≈7000 объектов).</a:t>
            </a:r>
          </a:p>
          <a:p>
            <a:r>
              <a:rPr lang="ru-RU" dirty="0"/>
              <a:t>Признаки: числовые (цена, площадь, количество комнат, этаж, год постройки, этажность дома, время до метро) и категориальные (округ, тип жилья (новостройка/вторичка), признак апартаментов).</a:t>
            </a:r>
          </a:p>
          <a:p>
            <a:r>
              <a:rPr lang="ru-RU" dirty="0"/>
              <a:t>Для предобработки удалены дубликаты, заполнены пропуски медианой/модой, </a:t>
            </a:r>
            <a:r>
              <a:rPr lang="ru-RU" dirty="0" err="1"/>
              <a:t>one</a:t>
            </a:r>
            <a:r>
              <a:rPr lang="ru-RU" dirty="0"/>
              <a:t>-</a:t>
            </a:r>
            <a:r>
              <a:rPr lang="ru-RU" dirty="0" err="1"/>
              <a:t>hot</a:t>
            </a:r>
            <a:r>
              <a:rPr lang="ru-RU" dirty="0"/>
              <a:t>-кодированы категории, стандартизированы числовые признаки.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51E632A3-0D0F-B637-006B-FB042690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 и предобработка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58DDF34-5AA7-978A-13E0-E023234D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7" name="Google Shape;143;p18">
            <a:extLst>
              <a:ext uri="{FF2B5EF4-FFF2-40B4-BE49-F238E27FC236}">
                <a16:creationId xmlns:a16="http://schemas.microsoft.com/office/drawing/2014/main" id="{D907B6DB-7188-09F4-FCA2-0E61FCBEE5D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5182" y="3802455"/>
            <a:ext cx="8839204" cy="105310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773180-2DFE-6DFC-974C-26784044FEDF}"/>
              </a:ext>
            </a:extLst>
          </p:cNvPr>
          <p:cNvSpPr txBox="1"/>
          <p:nvPr/>
        </p:nvSpPr>
        <p:spPr>
          <a:xfrm>
            <a:off x="2544024" y="4855563"/>
            <a:ext cx="4581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Первые 5 строчек изначального датасета</a:t>
            </a:r>
          </a:p>
        </p:txBody>
      </p:sp>
    </p:spTree>
    <p:extLst>
      <p:ext uri="{BB962C8B-B14F-4D97-AF65-F5344CB8AC3E}">
        <p14:creationId xmlns:p14="http://schemas.microsoft.com/office/powerpoint/2010/main" val="3713118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B38ABAC3-76BC-99D4-EB0F-83F0DA999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3219073" cy="480921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Автоэнкодер — нейронная сеть, которая сжимает входные данные до низкоразмерного представления (</a:t>
            </a:r>
            <a:r>
              <a:rPr lang="ru-RU" dirty="0" err="1"/>
              <a:t>bottleneck</a:t>
            </a:r>
            <a:r>
              <a:rPr lang="ru-RU" dirty="0"/>
              <a:t>), а затем восстанавливает их.</a:t>
            </a:r>
          </a:p>
          <a:p>
            <a:r>
              <a:rPr lang="ru-RU" dirty="0"/>
              <a:t>Архитектура: входной слой (размерность после </a:t>
            </a:r>
            <a:r>
              <a:rPr lang="ru-RU" dirty="0" err="1"/>
              <a:t>one‑hot</a:t>
            </a:r>
            <a:r>
              <a:rPr lang="ru-RU" dirty="0"/>
              <a:t>), два скрытых слоя (8 нейронов, </a:t>
            </a:r>
            <a:r>
              <a:rPr lang="ru-RU" dirty="0" err="1"/>
              <a:t>ReLU</a:t>
            </a:r>
            <a:r>
              <a:rPr lang="ru-RU" dirty="0"/>
              <a:t>), бутылочное горлышко (4 нейрона), затем симметричное расширение.</a:t>
            </a:r>
          </a:p>
          <a:p>
            <a:r>
              <a:rPr lang="ru-RU" dirty="0"/>
              <a:t>Функция потерь: MSE. Обучение на 80% данных, 50 эпох.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94A1760-C5D7-CC29-46D8-F4DA6E84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Модель: автоэнкодер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368374-800D-EB32-8916-82AE1CAFF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5</a:t>
            </a:fld>
            <a:endParaRPr lang="ru-RU" dirty="0"/>
          </a:p>
        </p:txBody>
      </p:sp>
      <p:pic>
        <p:nvPicPr>
          <p:cNvPr id="7" name="Google Shape;151;p19">
            <a:extLst>
              <a:ext uri="{FF2B5EF4-FFF2-40B4-BE49-F238E27FC236}">
                <a16:creationId xmlns:a16="http://schemas.microsoft.com/office/drawing/2014/main" id="{5C2893A0-9C70-EA77-4064-38E3D0EE597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47723" y="1917478"/>
            <a:ext cx="5116663" cy="30890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6602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AEA937EC-DBCF-3850-D0AF-347FA8371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обучения мы извлекли 4-мерные векторы (</a:t>
            </a:r>
            <a:r>
              <a:rPr lang="ru-RU" dirty="0" err="1"/>
              <a:t>bottleneck</a:t>
            </a:r>
            <a:r>
              <a:rPr lang="ru-RU" dirty="0"/>
              <a:t>) для каждой квартиры.</a:t>
            </a:r>
          </a:p>
          <a:p>
            <a:r>
              <a:rPr lang="ru-RU" dirty="0"/>
              <a:t>Для визуализации применили нелинейное снижение размерности UMAP (лучше сохраняет структуру, чем PCA).</a:t>
            </a:r>
          </a:p>
          <a:p>
            <a:r>
              <a:rPr lang="ru-RU" dirty="0"/>
              <a:t>Полученная 2D-проекция показала наличие нескольких кластеров.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BA160F4-F0BA-1103-5A32-E08C2E6D2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Латентное пространство и визуализация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AC42647-8F68-04C3-9371-C9F69E0B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862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64;p21" title="newplot (14).png">
            <a:extLst>
              <a:ext uri="{FF2B5EF4-FFF2-40B4-BE49-F238E27FC236}">
                <a16:creationId xmlns:a16="http://schemas.microsoft.com/office/drawing/2014/main" id="{247D16F8-533E-92E5-AFF7-C538ABA1BBF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86408" y="1549819"/>
            <a:ext cx="5377978" cy="375836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Объект 1">
            <a:extLst>
              <a:ext uri="{FF2B5EF4-FFF2-40B4-BE49-F238E27FC236}">
                <a16:creationId xmlns:a16="http://schemas.microsoft.com/office/drawing/2014/main" id="{F6717509-A818-4C27-4A57-5F64E72FF5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3210019" cy="4809218"/>
          </a:xfrm>
        </p:spPr>
        <p:txBody>
          <a:bodyPr/>
          <a:lstStyle/>
          <a:p>
            <a:r>
              <a:rPr lang="ru-RU" dirty="0"/>
              <a:t>Для автоматического выделения сегментов использовали DBSCAN на UMAP-проекции. Параметры подбирались с применением </a:t>
            </a:r>
            <a:r>
              <a:rPr lang="ru-RU" dirty="0" err="1"/>
              <a:t>grid</a:t>
            </a:r>
            <a:r>
              <a:rPr lang="ru-RU" dirty="0"/>
              <a:t> </a:t>
            </a:r>
            <a:r>
              <a:rPr lang="ru-RU" dirty="0" err="1"/>
              <a:t>search</a:t>
            </a:r>
            <a:r>
              <a:rPr lang="ru-RU" dirty="0"/>
              <a:t> с максимизацией </a:t>
            </a:r>
            <a:r>
              <a:rPr lang="ru-RU" dirty="0" err="1"/>
              <a:t>silhouette</a:t>
            </a:r>
            <a:r>
              <a:rPr lang="ru-RU" dirty="0"/>
              <a:t> </a:t>
            </a:r>
            <a:r>
              <a:rPr lang="ru-RU" dirty="0" err="1"/>
              <a:t>score</a:t>
            </a:r>
            <a:r>
              <a:rPr lang="ru-RU" dirty="0"/>
              <a:t>.</a:t>
            </a:r>
          </a:p>
          <a:p>
            <a:r>
              <a:rPr lang="ru-RU" dirty="0"/>
              <a:t>выделено 4 кластеров (включая кластер -1 – шум/выбросы).</a:t>
            </a:r>
          </a:p>
          <a:p>
            <a:r>
              <a:rPr lang="ru-RU" dirty="0"/>
              <a:t>Распределение объектов: кластер 2 – самый большой (74%), кластер -1 – 3.4%.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AF61211-C3DB-A79B-846E-32D852640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515279-64C6-68DD-1334-B9D06597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5202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C68FCF92-B904-7392-9D70-B109AAB47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7323383"/>
              </p:ext>
            </p:extLst>
          </p:nvPr>
        </p:nvGraphicFramePr>
        <p:xfrm>
          <a:off x="706170" y="1233488"/>
          <a:ext cx="4103080" cy="488896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67630">
                  <a:extLst>
                    <a:ext uri="{9D8B030D-6E8A-4147-A177-3AD203B41FA5}">
                      <a16:colId xmlns:a16="http://schemas.microsoft.com/office/drawing/2014/main" val="1251405619"/>
                    </a:ext>
                  </a:extLst>
                </a:gridCol>
                <a:gridCol w="1045150">
                  <a:extLst>
                    <a:ext uri="{9D8B030D-6E8A-4147-A177-3AD203B41FA5}">
                      <a16:colId xmlns:a16="http://schemas.microsoft.com/office/drawing/2014/main" val="2218994320"/>
                    </a:ext>
                  </a:extLst>
                </a:gridCol>
                <a:gridCol w="1045150">
                  <a:extLst>
                    <a:ext uri="{9D8B030D-6E8A-4147-A177-3AD203B41FA5}">
                      <a16:colId xmlns:a16="http://schemas.microsoft.com/office/drawing/2014/main" val="590262354"/>
                    </a:ext>
                  </a:extLst>
                </a:gridCol>
                <a:gridCol w="1045150">
                  <a:extLst>
                    <a:ext uri="{9D8B030D-6E8A-4147-A177-3AD203B41FA5}">
                      <a16:colId xmlns:a16="http://schemas.microsoft.com/office/drawing/2014/main" val="1802930454"/>
                    </a:ext>
                  </a:extLst>
                </a:gridCol>
              </a:tblGrid>
              <a:tr h="648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Кластер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Название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Количество объектов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Доля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25483687"/>
                  </a:ext>
                </a:extLst>
              </a:tr>
              <a:tr h="648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-1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Аномальные объекты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240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3.4%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07961216"/>
                  </a:ext>
                </a:extLst>
              </a:tr>
              <a:tr h="648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0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Массовый рынок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5 186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74.3%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7154728"/>
                  </a:ext>
                </a:extLst>
              </a:tr>
              <a:tr h="6488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1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Элитные высотки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463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6.6%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008549"/>
                  </a:ext>
                </a:extLst>
              </a:tr>
              <a:tr h="885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2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Малогабаритная вторичка</a:t>
                      </a:r>
                      <a:endParaRPr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1 094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Didact Gothic"/>
                        </a:rPr>
                        <a:t>15.7%</a:t>
                      </a:r>
                      <a:endParaRPr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87801305"/>
                  </a:ext>
                </a:extLst>
              </a:tr>
            </a:tbl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1D82F50-97C4-2643-8A90-DC784F09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/>
              <a:t>Распределение объектов по кластерам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8F338D-7A90-26ED-A7C5-774AECC2C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8</a:t>
            </a:fld>
            <a:endParaRPr lang="ru-RU" dirty="0"/>
          </a:p>
        </p:txBody>
      </p:sp>
      <p:pic>
        <p:nvPicPr>
          <p:cNvPr id="7" name="Google Shape;171;p22">
            <a:extLst>
              <a:ext uri="{FF2B5EF4-FFF2-40B4-BE49-F238E27FC236}">
                <a16:creationId xmlns:a16="http://schemas.microsoft.com/office/drawing/2014/main" id="{FA0C371B-4E45-D697-0A2E-824E636ABBD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041335" y="1951454"/>
            <a:ext cx="3923051" cy="3481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8664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3B83326-2A96-F560-BC50-D3E81C6A0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5099049"/>
              </p:ext>
            </p:extLst>
          </p:nvPr>
        </p:nvGraphicFramePr>
        <p:xfrm>
          <a:off x="628650" y="1233488"/>
          <a:ext cx="8289575" cy="3622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789575">
                  <a:extLst>
                    <a:ext uri="{9D8B030D-6E8A-4147-A177-3AD203B41FA5}">
                      <a16:colId xmlns:a16="http://schemas.microsoft.com/office/drawing/2014/main" val="71009584"/>
                    </a:ext>
                  </a:extLst>
                </a:gridCol>
                <a:gridCol w="1625000">
                  <a:extLst>
                    <a:ext uri="{9D8B030D-6E8A-4147-A177-3AD203B41FA5}">
                      <a16:colId xmlns:a16="http://schemas.microsoft.com/office/drawing/2014/main" val="1482196514"/>
                    </a:ext>
                  </a:extLst>
                </a:gridCol>
                <a:gridCol w="1625000">
                  <a:extLst>
                    <a:ext uri="{9D8B030D-6E8A-4147-A177-3AD203B41FA5}">
                      <a16:colId xmlns:a16="http://schemas.microsoft.com/office/drawing/2014/main" val="791464915"/>
                    </a:ext>
                  </a:extLst>
                </a:gridCol>
                <a:gridCol w="1625000">
                  <a:extLst>
                    <a:ext uri="{9D8B030D-6E8A-4147-A177-3AD203B41FA5}">
                      <a16:colId xmlns:a16="http://schemas.microsoft.com/office/drawing/2014/main" val="1833105049"/>
                    </a:ext>
                  </a:extLst>
                </a:gridCol>
                <a:gridCol w="1625000">
                  <a:extLst>
                    <a:ext uri="{9D8B030D-6E8A-4147-A177-3AD203B41FA5}">
                      <a16:colId xmlns:a16="http://schemas.microsoft.com/office/drawing/2014/main" val="2290152167"/>
                    </a:ext>
                  </a:extLst>
                </a:gridCol>
              </a:tblGrid>
              <a:tr h="426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Признак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Кластер -1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Кластер 0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Кластер 1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Кластер 2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216658"/>
                  </a:ext>
                </a:extLst>
              </a:tr>
              <a:tr h="426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Средняя площадь, м²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87.5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88.3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107.4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53.9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3091421"/>
                  </a:ext>
                </a:extLst>
              </a:tr>
              <a:tr h="63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Средняя жилая площадь, м²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30.5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39.4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38.2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18.2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8932657"/>
                  </a:ext>
                </a:extLst>
              </a:tr>
              <a:tr h="426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Среднее число комнат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1.91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2.38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2.41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1.11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091667"/>
                  </a:ext>
                </a:extLst>
              </a:tr>
              <a:tr h="63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Средний год постройки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1949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2015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2019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1965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2784587"/>
                  </a:ext>
                </a:extLst>
              </a:tr>
              <a:tr h="4265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Средняя этажность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13.5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18.8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54.1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9.8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6299842"/>
                  </a:ext>
                </a:extLst>
              </a:tr>
              <a:tr h="63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Средний этаж квартиры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9.7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9.0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39.4</a:t>
                      </a:r>
                      <a:endParaRPr sz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Didact Gothic"/>
                          <a:cs typeface="Times New Roman" panose="02020603050405020304" pitchFamily="18" charset="0"/>
                          <a:sym typeface="Didact Gothic"/>
                        </a:rPr>
                        <a:t>5.6</a:t>
                      </a:r>
                      <a:endParaRPr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Didact Gothic"/>
                        <a:cs typeface="Times New Roman" panose="02020603050405020304" pitchFamily="18" charset="0"/>
                        <a:sym typeface="Didact Gothic"/>
                      </a:endParaRPr>
                    </a:p>
                  </a:txBody>
                  <a:tcPr marL="68575" marR="6857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1680328"/>
                  </a:ext>
                </a:extLst>
              </a:tr>
            </a:tbl>
          </a:graphicData>
        </a:graphic>
      </p:graphicFrame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6D5009BD-5AAB-2B9A-5B06-43753BA2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Числовые характеристики кластеров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412B9-8528-9106-7CA7-D31BF585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893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D28A68EE-E160-D9E4-9955-A23B14753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Числовые характеристики кластеров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AACEF6-1271-652E-A595-A682EF27C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5" name="Google Shape;183;p24">
            <a:extLst>
              <a:ext uri="{FF2B5EF4-FFF2-40B4-BE49-F238E27FC236}">
                <a16:creationId xmlns:a16="http://schemas.microsoft.com/office/drawing/2014/main" id="{48F89CA7-7003-6114-0980-F2FEB560258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881888"/>
            <a:ext cx="8839200" cy="29325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680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8A6FD457-B598-C2FC-813F-958D4E25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400" dirty="0"/>
              <a:t>Географическое распределение (округа)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632261-8332-21FA-7470-FCD76718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11</a:t>
            </a:fld>
            <a:endParaRPr lang="ru-RU" dirty="0"/>
          </a:p>
        </p:txBody>
      </p:sp>
      <p:pic>
        <p:nvPicPr>
          <p:cNvPr id="5" name="Google Shape;189;p25" title="presentation_slide3_regions_heatmap.png">
            <a:extLst>
              <a:ext uri="{FF2B5EF4-FFF2-40B4-BE49-F238E27FC236}">
                <a16:creationId xmlns:a16="http://schemas.microsoft.com/office/drawing/2014/main" id="{727F6FF9-94A4-AE6A-529A-CDAB4B7F68A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9650" y="1472871"/>
            <a:ext cx="7631017" cy="41402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51804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4A6F69A-0050-C9D3-CE39-0F0470F95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Аномалии по кластерам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984ADA-7D9B-36ED-27B8-7BE1E802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12</a:t>
            </a:fld>
            <a:endParaRPr lang="ru-RU" dirty="0"/>
          </a:p>
        </p:txBody>
      </p:sp>
      <p:pic>
        <p:nvPicPr>
          <p:cNvPr id="5" name="Google Shape;195;p26" title="presentation_slide4_anomalies.png">
            <a:extLst>
              <a:ext uri="{FF2B5EF4-FFF2-40B4-BE49-F238E27FC236}">
                <a16:creationId xmlns:a16="http://schemas.microsoft.com/office/drawing/2014/main" id="{BC1B67B6-53CB-4E2B-F99F-7C8103452F23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5182" y="1870917"/>
            <a:ext cx="8839204" cy="31161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467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93770E9-20C7-5AEF-D52C-F2E8B0D54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 жилья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9327F5-8A8C-959C-F886-37A2CE414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13</a:t>
            </a:fld>
            <a:endParaRPr lang="ru-RU" dirty="0"/>
          </a:p>
        </p:txBody>
      </p:sp>
      <p:pic>
        <p:nvPicPr>
          <p:cNvPr id="8" name="Google Shape;201;p27" title="presentation_slide5_new_vs_old.png">
            <a:extLst>
              <a:ext uri="{FF2B5EF4-FFF2-40B4-BE49-F238E27FC236}">
                <a16:creationId xmlns:a16="http://schemas.microsoft.com/office/drawing/2014/main" id="{0327AB60-328A-6765-A287-24018946073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8650" y="1385682"/>
            <a:ext cx="7908200" cy="4717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91009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1F66077-E8D3-1983-D46A-BA3BCC70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3436356" cy="4809218"/>
          </a:xfrm>
        </p:spPr>
        <p:txBody>
          <a:bodyPr/>
          <a:lstStyle/>
          <a:p>
            <a:r>
              <a:rPr lang="ru-RU" dirty="0"/>
              <a:t>Разработанное приложение представляет собой десктопный инструмент, позволяющий любому пользователю определить тип недвижимости на основе реальных данных московского рынка.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E5FFD56-2509-375C-F632-7C581993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приложения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251354-10F1-19C5-7A96-83C891B90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14</a:t>
            </a:fld>
            <a:endParaRPr lang="ru-RU" dirty="0"/>
          </a:p>
        </p:txBody>
      </p:sp>
      <p:pic>
        <p:nvPicPr>
          <p:cNvPr id="5" name="Google Shape;208;p28">
            <a:extLst>
              <a:ext uri="{FF2B5EF4-FFF2-40B4-BE49-F238E27FC236}">
                <a16:creationId xmlns:a16="http://schemas.microsoft.com/office/drawing/2014/main" id="{2275DD59-7597-CB4E-5D76-5ABF156D18E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55945" y="1408848"/>
            <a:ext cx="4159405" cy="404030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Объект 1">
            <a:extLst>
              <a:ext uri="{FF2B5EF4-FFF2-40B4-BE49-F238E27FC236}">
                <a16:creationId xmlns:a16="http://schemas.microsoft.com/office/drawing/2014/main" id="{83F3E47D-3EC5-A2D1-EC5E-C2454BA9EBC6}"/>
              </a:ext>
            </a:extLst>
          </p:cNvPr>
          <p:cNvSpPr txBox="1">
            <a:spLocks/>
          </p:cNvSpPr>
          <p:nvPr/>
        </p:nvSpPr>
        <p:spPr>
          <a:xfrm>
            <a:off x="5245365" y="5515385"/>
            <a:ext cx="2686427" cy="480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Форма для заполнения</a:t>
            </a:r>
          </a:p>
        </p:txBody>
      </p:sp>
    </p:spTree>
    <p:extLst>
      <p:ext uri="{BB962C8B-B14F-4D97-AF65-F5344CB8AC3E}">
        <p14:creationId xmlns:p14="http://schemas.microsoft.com/office/powerpoint/2010/main" val="4010230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7FD4E0F6-7EE9-4BA0-0E8F-951E95084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7582843" cy="43303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Ниже приведены примеры работы приложения в разных случаях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CB2DAA9-E454-D5DE-B0D1-435B2DBAE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Демонстрация работы (Кластер 0)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DA12D77-BF8B-429E-9755-4CFF2803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15</a:t>
            </a:fld>
            <a:endParaRPr lang="ru-RU" dirty="0"/>
          </a:p>
        </p:txBody>
      </p:sp>
      <p:pic>
        <p:nvPicPr>
          <p:cNvPr id="5" name="Google Shape;216;p29">
            <a:extLst>
              <a:ext uri="{FF2B5EF4-FFF2-40B4-BE49-F238E27FC236}">
                <a16:creationId xmlns:a16="http://schemas.microsoft.com/office/drawing/2014/main" id="{C4D164F2-CA11-22C6-B7EA-060337FFD74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8936" y="2030422"/>
            <a:ext cx="3557176" cy="348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7;p29">
            <a:extLst>
              <a:ext uri="{FF2B5EF4-FFF2-40B4-BE49-F238E27FC236}">
                <a16:creationId xmlns:a16="http://schemas.microsoft.com/office/drawing/2014/main" id="{D00AC00C-DED6-ACA7-42FF-D7BF909B6EE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061" y="3135347"/>
            <a:ext cx="4801325" cy="11162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6783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32BE9-B3F6-354B-9A15-1756EC3A8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10C1D414-06C8-C762-B5D1-82FCC2D52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7582843" cy="43303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Ниже приведены примеры работы приложения в разных случаях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1621AB89-EA50-5D44-0355-49BA49D19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Демонстрация работы (Кластер 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E4E6C8-4D2C-356D-0E56-248E2F3E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7" name="Google Shape;225;p30">
            <a:extLst>
              <a:ext uri="{FF2B5EF4-FFF2-40B4-BE49-F238E27FC236}">
                <a16:creationId xmlns:a16="http://schemas.microsoft.com/office/drawing/2014/main" id="{10D9EAE8-9FA4-105E-CEE1-CA121CA19E2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720" t="-920" r="-720" b="920"/>
          <a:stretch/>
        </p:blipFill>
        <p:spPr>
          <a:xfrm>
            <a:off x="172768" y="1977118"/>
            <a:ext cx="3705225" cy="36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26;p30">
            <a:extLst>
              <a:ext uri="{FF2B5EF4-FFF2-40B4-BE49-F238E27FC236}">
                <a16:creationId xmlns:a16="http://schemas.microsoft.com/office/drawing/2014/main" id="{B1239E53-20C6-02E2-26C3-84E6D6E8EE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787" y="3397671"/>
            <a:ext cx="5019599" cy="11845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2936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3CF9D-8EF3-E56F-CFCF-9DF075A89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BE0741C-ADD5-4374-BD3E-C4F600E35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7582843" cy="43303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Ниже приведены примеры работы приложения в разных случаях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0B19F21-CE66-341D-F05D-1EC57CB6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Демонстрация работы (Кластер 2)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B73B67E-9857-0980-714E-4DF09C32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17</a:t>
            </a:fld>
            <a:endParaRPr lang="ru-RU" dirty="0"/>
          </a:p>
        </p:txBody>
      </p:sp>
      <p:pic>
        <p:nvPicPr>
          <p:cNvPr id="5" name="Google Shape;233;p31">
            <a:extLst>
              <a:ext uri="{FF2B5EF4-FFF2-40B4-BE49-F238E27FC236}">
                <a16:creationId xmlns:a16="http://schemas.microsoft.com/office/drawing/2014/main" id="{DB4DFFF8-B4B8-66B0-8156-E5275D4399B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7257" y="1906960"/>
            <a:ext cx="3746545" cy="3718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34;p31">
            <a:extLst>
              <a:ext uri="{FF2B5EF4-FFF2-40B4-BE49-F238E27FC236}">
                <a16:creationId xmlns:a16="http://schemas.microsoft.com/office/drawing/2014/main" id="{3FE6EF20-E1BD-E49F-8702-A61259E78F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7282" y="3249813"/>
            <a:ext cx="5046126" cy="1228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55098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B610C-6229-361D-D987-DDA69A1DA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EEBABC6B-A7AC-32C8-82DF-ECEDBDC35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32807"/>
            <a:ext cx="7582843" cy="43303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Ниже приведены примеры работы приложения в разных случаях</a:t>
            </a:r>
          </a:p>
          <a:p>
            <a:endParaRPr lang="ru-RU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474B0C0-C5F8-E155-35BF-ABCAA1E2F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Демонстрация работы (Кластер -1)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1CB5B50-7321-3A0E-AE12-22D53CA1B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18</a:t>
            </a:fld>
            <a:endParaRPr lang="ru-RU" dirty="0"/>
          </a:p>
        </p:txBody>
      </p:sp>
      <p:pic>
        <p:nvPicPr>
          <p:cNvPr id="7" name="Google Shape;241;p32">
            <a:extLst>
              <a:ext uri="{FF2B5EF4-FFF2-40B4-BE49-F238E27FC236}">
                <a16:creationId xmlns:a16="http://schemas.microsoft.com/office/drawing/2014/main" id="{C95B7680-0394-6CEE-3EF2-B02EDC5E470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6747" y="2035168"/>
            <a:ext cx="3727750" cy="359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42;p32">
            <a:extLst>
              <a:ext uri="{FF2B5EF4-FFF2-40B4-BE49-F238E27FC236}">
                <a16:creationId xmlns:a16="http://schemas.microsoft.com/office/drawing/2014/main" id="{52E62928-BC8E-784D-FE18-D62FEC3F188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5422" y="3363695"/>
            <a:ext cx="4999350" cy="12183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3113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pPr marL="0" indent="0" algn="ctr">
              <a:buNone/>
            </a:pPr>
            <a:r>
              <a:rPr lang="ru-RU" sz="3200" dirty="0"/>
              <a:t>СПАСИБО ЗА ВНИМАНИЕ</a:t>
            </a:r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7CD79-0B2B-45CB-ADDB-3901C959E46F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1679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666</Words>
  <Application>Microsoft Office PowerPoint</Application>
  <PresentationFormat>Экран (4:3)</PresentationFormat>
  <Paragraphs>128</Paragraphs>
  <Slides>19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Didact Gothic</vt:lpstr>
      <vt:lpstr>Times New Roman</vt:lpstr>
      <vt:lpstr>Тема Office</vt:lpstr>
      <vt:lpstr>Анализ рынка недвижимости Москвы: от автоэнкодера к кластерам</vt:lpstr>
      <vt:lpstr>Цель и задачи проекта</vt:lpstr>
      <vt:lpstr>Актуальность проекта</vt:lpstr>
      <vt:lpstr>Данные и предобработка</vt:lpstr>
      <vt:lpstr>Модель: автоэнкодер</vt:lpstr>
      <vt:lpstr>Латентное пространство и визуализация</vt:lpstr>
      <vt:lpstr>Кластеризация</vt:lpstr>
      <vt:lpstr>Распределение объектов по кластерам</vt:lpstr>
      <vt:lpstr>Числовые характеристики кластеров</vt:lpstr>
      <vt:lpstr>Числовые характеристики кластеров</vt:lpstr>
      <vt:lpstr>Географическое распределение (округа)</vt:lpstr>
      <vt:lpstr>Аномалии по кластерам</vt:lpstr>
      <vt:lpstr>Тип жилья</vt:lpstr>
      <vt:lpstr>Обзор приложения</vt:lpstr>
      <vt:lpstr>Демонстрация работы (Кластер 0)</vt:lpstr>
      <vt:lpstr>Демонстрация работы (Кластер 1)</vt:lpstr>
      <vt:lpstr>Демонстрация работы (Кластер 2)</vt:lpstr>
      <vt:lpstr>Демонстрация работы (Кластер -1)</vt:lpstr>
      <vt:lpstr>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pc</dc:creator>
  <cp:lastModifiedBy>Артём Соснин</cp:lastModifiedBy>
  <cp:revision>9</cp:revision>
  <dcterms:created xsi:type="dcterms:W3CDTF">2025-06-01T06:56:50Z</dcterms:created>
  <dcterms:modified xsi:type="dcterms:W3CDTF">2026-06-01T18:04:02Z</dcterms:modified>
</cp:coreProperties>
</file>